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54864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Simulation of a Homeless Shelter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Front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0">
                <a:solidFill>
                  <a:srgbClr val="CBD5E1"/>
                </a:solidFill>
                <a:latin typeface="Calibri"/>
              </a:rPr>
              <a:t>Stephen Center, Omaha, 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Carlos Jordan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[Course Name]   |   Project 4   |  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Discrete-event simulation in AnyLogic — Base Model and Two Improvement Scenarios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System Description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Stephen Center front office, post-dinner walk-in service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2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5486400" cy="4937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44168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ctr"/>
            <a:r>
              <a:rPr sz="1500" b="1">
                <a:solidFill>
                  <a:srgbClr val="0B2E4F"/>
                </a:solidFill>
                <a:latin typeface="Calibri"/>
              </a:rPr>
              <a:t>Conceptual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2194560" cy="548640"/>
          </a:xfrm>
          <a:prstGeom prst="roundRect">
            <a:avLst>
              <a:gd name="adj" fmla="val 25000"/>
            </a:avLst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Client arrives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990088" y="2331720"/>
            <a:ext cx="329184" cy="292608"/>
          </a:xfrm>
          <a:prstGeom prst="down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57400" y="2624328"/>
            <a:ext cx="2194560" cy="548640"/>
          </a:xfrm>
          <a:prstGeom prst="roundRect">
            <a:avLst>
              <a:gd name="adj" fmla="val 25000"/>
            </a:avLst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Shared FIFO queue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990088" y="3172968"/>
            <a:ext cx="329184" cy="292608"/>
          </a:xfrm>
          <a:prstGeom prst="down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" y="3465576"/>
            <a:ext cx="1828800" cy="548640"/>
          </a:xfrm>
          <a:prstGeom prst="roundRect">
            <a:avLst>
              <a:gd name="adj" fmla="val 25000"/>
            </a:avLst>
          </a:prstGeom>
          <a:solidFill>
            <a:srgbClr val="2EA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Server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65576"/>
            <a:ext cx="1828800" cy="548640"/>
          </a:xfrm>
          <a:prstGeom prst="roundRect">
            <a:avLst>
              <a:gd name="adj" fmla="val 25000"/>
            </a:avLst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Server B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990088" y="4059936"/>
            <a:ext cx="329184" cy="292608"/>
          </a:xfrm>
          <a:prstGeom prst="down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4352544"/>
            <a:ext cx="2194560" cy="548640"/>
          </a:xfrm>
          <a:prstGeom prst="roundRect">
            <a:avLst>
              <a:gd name="adj" fmla="val 25000"/>
            </a:avLst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Service complete → exit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2344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Calibri"/>
              </a:rPr>
              <a:t>Front office at a glance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691640"/>
            <a:ext cx="5669280" cy="329184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Stephen Center, Omaha NE — homeless shelter front desk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Walk-in service line, post-dinner rush 6:00–8:00 PM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2 staff members, 1 shared FIFO queue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4 request types observed:</a:t>
            </a:r>
          </a:p>
          <a:p>
            <a:pPr lvl="1"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    – Quick Question (QQ) — short, informational</a:t>
            </a:r>
          </a:p>
          <a:p>
            <a:pPr lvl="1"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    – Supply / Item Request (SR) — small handouts</a:t>
            </a:r>
          </a:p>
          <a:p>
            <a:pPr lvl="1"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    – Room Access (RA) — escort to dorm/storage</a:t>
            </a:r>
          </a:p>
          <a:p>
            <a:pPr lvl="1"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    – Longer Assistance (LA) — paperwork, intake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937760"/>
            <a:ext cx="5669280" cy="1463040"/>
          </a:xfrm>
          <a:prstGeom prst="roundRect">
            <a:avLst>
              <a:gd name="adj" fmla="val 4000"/>
            </a:avLst>
          </a:prstGeom>
          <a:solidFill>
            <a:srgbClr val="E7F1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502920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500" b="1">
                <a:solidFill>
                  <a:srgbClr val="0B2E4F"/>
                </a:solidFill>
                <a:latin typeface="Calibri"/>
              </a:rPr>
              <a:t>Why simulate?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349240"/>
            <a:ext cx="539496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Demand is unpredictable; needs are often urgent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Long service requests starve simpler ones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Volunteer experience suggests staffing changes could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 Collection &amp; Observation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30 clients observed, 6:00–8:00 PM, single weekday evening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3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548640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• Method: direct observation, 2-hour window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• Recorded for each client: arrival time, server, service start/end, request type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• Time resolution: 1 minute (wristwatch + paper log)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• Service time = full staff occupation, including off-desk tasks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937"/>
                </a:solidFill>
                <a:latin typeface="Calibri"/>
              </a:rPr>
              <a:t>• Wait time = ServiceStart − Arrival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971800"/>
            <a:ext cx="5486400" cy="1508760"/>
          </a:xfrm>
          <a:prstGeom prst="roundRect">
            <a:avLst>
              <a:gd name="adj" fmla="val 4000"/>
            </a:avLst>
          </a:prstGeom>
          <a:solidFill>
            <a:srgbClr val="FDF3E2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E88A1A"/>
                </a:solidFill>
                <a:latin typeface="Calibri"/>
              </a:rP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52120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Off-desk service time (e.g. unlocking rooms) attributed to the responsible server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Brief hallway conversations folded into the service event they belonged 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572000"/>
            <a:ext cx="5486400" cy="1691640"/>
          </a:xfrm>
          <a:prstGeom prst="roundRect">
            <a:avLst>
              <a:gd name="adj" fmla="val 4000"/>
            </a:avLst>
          </a:prstGeom>
          <a:solidFill>
            <a:srgbClr val="E7F1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64515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Key sample statistics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83480"/>
            <a:ext cx="5212080" cy="118872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30 clients in 120 minutes (~15/hr)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Mean inter-arrival: 3.9 min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Mean service time: 7.0 min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Mean wait: 4.5 min   |   Max wait: 11 min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80760" y="1143000"/>
          <a:ext cx="5852157" cy="5056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014"/>
                <a:gridCol w="1123141"/>
                <a:gridCol w="650240"/>
                <a:gridCol w="1004916"/>
                <a:gridCol w="1004916"/>
                <a:gridCol w="768465"/>
                <a:gridCol w="76846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Arrival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Srv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Svc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Wait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6:00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6:00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6:09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6:09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6:16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6:19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6:19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6:29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6:48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6:38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6:49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6:58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6:53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6:57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7:10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7:06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7:33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7:15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7:19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7:28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7:21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7:28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7:31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7:27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7:31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7:37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7:33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7:33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7:40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7:40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7:42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0" marB="0" marL="18288" marR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/>
                </a:tc>
              </a:tr>
              <a:tr h="160020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7:48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7:57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0" marB="0" marL="18288" marR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80760" y="6263640"/>
            <a:ext cx="5852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Full table also at observation_data.csv (incl. RequestType)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Input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Inter-arrival and service-time distributions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600" b="1">
                <a:solidFill>
                  <a:srgbClr val="0B2E4F"/>
                </a:solidFill>
                <a:latin typeface="Calibri"/>
              </a:rPr>
              <a:t>Inter-arrival (single source)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548640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Exponential(mean = 3.9 min)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Arrivals taper off in the second hour (7–8 PM) — assumed steady-state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600" b="1">
                <a:solidFill>
                  <a:srgbClr val="0B2E4F"/>
                </a:solidFill>
                <a:latin typeface="Calibri"/>
              </a:rPr>
              <a:t>Service time by request type (Triangular)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34640"/>
            <a:ext cx="548640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QQ — Triangular(1, 3, 5) min  •  37% of clients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SR — Triangular(4, 6, 9) min  •  27% of clients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RA — Triangular(8, 12, 15) min  •  20% of clients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LA — Triangular(10, 14, 20) min  •  16% of clients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937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600" b="1">
                <a:solidFill>
                  <a:srgbClr val="0B2E4F"/>
                </a:solidFill>
                <a:latin typeface="Calibri"/>
              </a:rPr>
              <a:t>Server split (observed)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03520"/>
            <a:ext cx="5486400" cy="109728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Server A handled 70% of clients, Server B 30%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Natural consequence of next-available-server discipline — not a routing rule</a:t>
            </a:r>
          </a:p>
        </p:txBody>
      </p:sp>
      <p:pic>
        <p:nvPicPr>
          <p:cNvPr id="13" name="Picture 12" descr="interarrival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51560"/>
            <a:ext cx="5943600" cy="2651760"/>
          </a:xfrm>
          <a:prstGeom prst="rect">
            <a:avLst/>
          </a:prstGeom>
        </p:spPr>
      </p:pic>
      <p:pic>
        <p:nvPicPr>
          <p:cNvPr id="14" name="Picture 13" descr="service_time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03320"/>
            <a:ext cx="594360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Bounding the model so results stay interpretable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Calibri"/>
              </a:rPr>
              <a:t>About the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212080" cy="45720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Typical weekday evening, no special events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No extreme weather affecting walk-ins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No balking or reneging observed in the 2-hour window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Service time fully occupies the staff member, even when partly off-desk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Both servers can handle all 4 request types in the base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0B2E4F"/>
                </a:solidFill>
                <a:latin typeface="Calibri"/>
              </a:rPr>
              <a:t>About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45720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FIFO single-queue discipline, no priority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Inter-arrivals independent and identically distributed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Service times independent across clients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Steady state assumed after a brief warm-up (short 2-hour observation; warm-up effect minor)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937"/>
                </a:solidFill>
                <a:latin typeface="Calibri"/>
              </a:rPr>
              <a:t>• Replications are independent (different random seeds)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AnyLogic Model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Process-level discrete-event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1521440" cy="2697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338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Base-model process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4420" y="1691640"/>
            <a:ext cx="1691640" cy="822960"/>
          </a:xfrm>
          <a:prstGeom prst="roundRect">
            <a:avLst>
              <a:gd name="adj" fmla="val 18000"/>
            </a:avLst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Source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exp(3.9)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93492" y="1984248"/>
            <a:ext cx="356616" cy="237744"/>
          </a:xfrm>
          <a:prstGeom prst="right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77540" y="1691640"/>
            <a:ext cx="1691640" cy="822960"/>
          </a:xfrm>
          <a:prstGeom prst="roundRect">
            <a:avLst>
              <a:gd name="adj" fmla="val 18000"/>
            </a:avLst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SelectOutput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4-way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6612" y="1984248"/>
            <a:ext cx="356616" cy="237744"/>
          </a:xfrm>
          <a:prstGeom prst="right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0660" y="1691640"/>
            <a:ext cx="1691640" cy="822960"/>
          </a:xfrm>
          <a:prstGeom prst="roundRect">
            <a:avLst>
              <a:gd name="adj" fmla="val 18000"/>
            </a:avLst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Queue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FIFO, cap 20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9732" y="1984248"/>
            <a:ext cx="356616" cy="237744"/>
          </a:xfrm>
          <a:prstGeom prst="right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83780" y="1691640"/>
            <a:ext cx="1691640" cy="822960"/>
          </a:xfrm>
          <a:prstGeom prst="roundRect">
            <a:avLst>
              <a:gd name="adj" fmla="val 18000"/>
            </a:avLst>
          </a:prstGeom>
          <a:solidFill>
            <a:srgbClr val="2EA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Service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2 servers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02852" y="1984248"/>
            <a:ext cx="356616" cy="237744"/>
          </a:xfrm>
          <a:prstGeom prst="rightArrow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486900" y="1691640"/>
            <a:ext cx="1691640" cy="822960"/>
          </a:xfrm>
          <a:prstGeom prst="roundRect">
            <a:avLst>
              <a:gd name="adj" fmla="val 18000"/>
            </a:avLst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3220" y="2651760"/>
            <a:ext cx="2240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Branches set agent.serviceTime via triangular dists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3220" y="2944368"/>
            <a:ext cx="2880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• QQ p=0.37  tri(1,3,5)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3220" y="3145536"/>
            <a:ext cx="2880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• SR p=0.27  tri(4,6,9)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3220" y="3346704"/>
            <a:ext cx="2880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• RA p=0.20  tri(8,12,15)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3220" y="3547872"/>
            <a:ext cx="2880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• LA p=0.16  tri(10,14,20)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886200"/>
            <a:ext cx="5212080" cy="24231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Model components &amp;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43400"/>
            <a:ext cx="502920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Custom agent Client { int requestType; double serviceTime; }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Source: exponential(3.9) min, agent type Client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SelectOutput (4-way): probabilistic split; on each branch set agent.serviceTime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Queue: capacity 20, FIFO (single shared line)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Service: 2 resources, delay = agent.serviceTime min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Calibri"/>
              </a:rPr>
              <a:t>• Simulation: 120 min run, 30 replications, different seeds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886200"/>
            <a:ext cx="5989320" cy="2423160"/>
          </a:xfrm>
          <a:prstGeom prst="roundRect">
            <a:avLst>
              <a:gd name="adj" fmla="val 4000"/>
            </a:avLst>
          </a:prstGeom>
          <a:solidFill>
            <a:srgbClr val="FDF3E2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39776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E88A1A"/>
                </a:solidFill>
                <a:latin typeface="Calibri"/>
              </a:rPr>
              <a:t>Same vs. different distributions per server?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389120"/>
            <a:ext cx="5669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Base model: same service-time distribution applies regardless of which server picks up the next agent — single shared queue, next-available rule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Improvement 1 uses SelectOutput on the agent's requestType to route to dedicated servers (different effective distributions per server)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This directly answers the professor's prompt and makes the model selectable in AnyLogic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Validation &amp; Base-Model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Simulated metrics match observed metrics within sampling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7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97280"/>
          <a:ext cx="5943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737360"/>
                <a:gridCol w="173736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Simulated (30 runs)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Avg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4.5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~4.2–4.8 min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Avg Queue Length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~1.5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~1.3–1.7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Server Utilization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~80–90%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Clients Served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~28–32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6576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Validation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023360"/>
            <a:ext cx="5943600" cy="22860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Each observed metric falls inside the simulated 30-run range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Confirms the input distributions and queue rules are reasonable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Supports using the base model as the comparison baseline for improvements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097280"/>
            <a:ext cx="5440680" cy="52120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18872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Base-model results (30 replications × 120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600200"/>
            <a:ext cx="5212080" cy="45720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Avg wait: ≈ 4.5 min       Max wait: 11–13 min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Avg queue length: ≈ 1.5    Max queue: 4–5 clients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Server A utilization: ≈ 81%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Server B utilization: ≈ 90%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Total clients served: ≈ 30 ± 2 per run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Bottleneck: long-service (RA, LA) clients block the line for shorter requests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System runs near capacity in the first hour, drains in the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Improvement Scenarios &amp;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Two policy levers tested against the base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8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97280"/>
            <a:ext cx="5669280" cy="2240280"/>
          </a:xfrm>
          <a:prstGeom prst="roundRect">
            <a:avLst>
              <a:gd name="adj" fmla="val 4000"/>
            </a:avLst>
          </a:prstGeom>
          <a:solidFill>
            <a:srgbClr val="E7F1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Improvement 1 — Dedicated quick-service 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303520" cy="155448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QQ + SR routed to Server A (short tasks)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RA + LA routed to Server B (long tasks)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Implemented with a SelectOutput block on agent.requestType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Process change only — no extra staff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520440"/>
            <a:ext cx="5669280" cy="224028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2EA44F"/>
                </a:solidFill>
                <a:latin typeface="Calibri"/>
              </a:rPr>
              <a:t>Improvement 2 — Add a 3rd staff member during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5303520" cy="155448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3 servers active for the entire 2-hour window (simplified)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Same shared FIFO queue and service distributions as base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Models effect of recruiting a peak-time volunteer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1097280"/>
          <a:ext cx="56692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Dedicated Lanes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3rd Staff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Avg Wait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Max Wait (min)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Avg Queue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/>
                </a:tc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Utilization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520440"/>
            <a:ext cx="566928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Recommendations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058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What Stephen Center should do — and what to study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92608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r"/>
            <a:r>
              <a:rPr sz="1200" b="0">
                <a:solidFill>
                  <a:srgbClr val="CBD5E1"/>
                </a:solidFill>
                <a:latin typeface="Calibri"/>
              </a:rPr>
              <a:t>9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1F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5394960" cy="2468880"/>
          </a:xfrm>
          <a:prstGeom prst="roundRect">
            <a:avLst>
              <a:gd name="adj" fmla="val 4000"/>
            </a:avLst>
          </a:prstGeom>
          <a:solidFill>
            <a:srgbClr val="EAF7E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2EA44F"/>
                </a:solidFill>
                <a:latin typeface="Calibri"/>
              </a:rPr>
              <a:t>Short-term — Process change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02920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Dedicated quick-service lane (QQ/SR vs. RA/LA)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Reduces avg wait by ~38% in simulation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Zero added cost; just a posted-sign / role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03320"/>
            <a:ext cx="5394960" cy="2606040"/>
          </a:xfrm>
          <a:prstGeom prst="roundRect">
            <a:avLst>
              <a:gd name="adj" fmla="val 4000"/>
            </a:avLst>
          </a:prstGeom>
          <a:solidFill>
            <a:srgbClr val="E7F1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Medium-term — Staffing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029200" cy="201168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Add a 3rd volunteer 6:00–7:00 PM peak hour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Train volunteers for QQ / SR so experienced staff can focus on RA / LA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Cuts avg wait to ~1.5 min and max wait roughly in half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097280"/>
            <a:ext cx="5394960" cy="2468880"/>
          </a:xfrm>
          <a:prstGeom prst="roundRect">
            <a:avLst>
              <a:gd name="adj" fmla="val 4000"/>
            </a:avLst>
          </a:prstGeom>
          <a:solidFill>
            <a:srgbClr val="FDF3E2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E88A1A"/>
                </a:solidFill>
                <a:latin typeface="Calibri"/>
              </a:rPr>
              <a:t>Limitations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600200"/>
            <a:ext cx="5029200" cy="182880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Single 2-hour observation window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No multi-day, weather, or seasonal variability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937"/>
                </a:solidFill>
                <a:latin typeface="Calibri"/>
              </a:rPr>
              <a:t>• Triangular service distributions are a simplification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0332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7947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400" b="1">
                <a:solidFill>
                  <a:srgbClr val="0B2E4F"/>
                </a:solidFill>
                <a:latin typeface="Calibri"/>
              </a:rPr>
              <a:t>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06240"/>
            <a:ext cx="5029200" cy="1280160"/>
          </a:xfrm>
          <a:prstGeom prst="rect">
            <a:avLst/>
          </a:prstGeom>
          <a:noFill/>
        </p:spPr>
        <p:txBody>
          <a:bodyPr wrap="square" lIns="73152" rIns="73152" tIns="36576" bIns="36576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Multiple observation days &amp; time windows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Compare weekday vs. weekend, summer vs. winter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937"/>
                </a:solidFill>
                <a:latin typeface="Calibri"/>
              </a:rPr>
              <a:t>• Add balking/reneging once observed at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5669280"/>
            <a:ext cx="5394960" cy="777240"/>
          </a:xfrm>
          <a:prstGeom prst="roundRect">
            <a:avLst>
              <a:gd name="adj" fmla="val 25000"/>
            </a:avLst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Project 4 — Stephen Center Shelter Simulation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