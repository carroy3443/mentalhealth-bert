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377440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Project 4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Discrete Event</a:t>
            </a:r>
          </a:p>
          <a:p>
            <a:r>
              <a:rPr sz="2800" b="1">
                <a:solidFill>
                  <a:srgbClr val="FFFFFF"/>
                </a:solidFill>
                <a:latin typeface="Calibri"/>
              </a:rPr>
              <a:t>Simulation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0"/>
            <a:ext cx="3108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Calibri"/>
              </a:rPr>
              <a:t>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188720"/>
            <a:ext cx="78638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600" b="1">
                <a:solidFill>
                  <a:srgbClr val="1F4E79"/>
                </a:solidFill>
                <a:latin typeface="Calibri"/>
              </a:rPr>
              <a:t>Simulation of a Homeless Shelter</a:t>
            </a:r>
          </a:p>
          <a:p>
            <a:r>
              <a:rPr sz="3600" b="1">
                <a:solidFill>
                  <a:srgbClr val="1F4E79"/>
                </a:solidFill>
                <a:latin typeface="Calibri"/>
              </a:rPr>
              <a:t>Front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301752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200" b="1">
                <a:solidFill>
                  <a:srgbClr val="C8102E"/>
                </a:solidFill>
                <a:latin typeface="Calibri"/>
              </a:rPr>
              <a:t>Stephen Center  |  Omaha, 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0" y="3749039"/>
            <a:ext cx="1828800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40233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Carlos Jordan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52628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6B6F68"/>
                </a:solidFill>
                <a:latin typeface="Calibri"/>
              </a:rPr>
              <a:t>Discrete Event Simulation  |  University of Nebraska Omaha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93776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6B6F68"/>
                </a:solidFill>
                <a:latin typeface="Calibri"/>
              </a:rPr>
              <a:t>Course: ___ (placeholder)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34924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6B6F68"/>
                </a:solidFill>
                <a:latin typeface="Calibri"/>
              </a:rPr>
              <a:t>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System under study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Stephen Center front office, Omaha NE - the walk-in service 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Homeless clients arrive seeking help from staff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Observation window: 6:00 PM - 8:00 PM (post-dinner rush)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2 staff members on duty (servers A and B)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1 shared queue, FIFO discipline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4 distinct request types: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Quick Question (QQ): directions, hours, status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Supply / Item Request (SR): hygiene, blanket, water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Room Access (RA): bed assignment, room unlock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Longer Assistance (LA): paperwork, referrals, intake</a:t>
            </a:r>
          </a:p>
        </p:txBody>
      </p:sp>
      <p:pic>
        <p:nvPicPr>
          <p:cNvPr id="7" name="Picture 6" descr="system_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852160" cy="22968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Why this system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155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Homeless shelters face highly variable, unpredictable demand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Delays at the front office matter: clients have urgent needs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B6F68"/>
                </a:solidFill>
                <a:latin typeface="Calibri"/>
              </a:rPr>
              <a:t>    – hot food finishing, beds filling up, weather closing in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Coordinated entry systems in Omaha route clients to specific shelters; queue length at the door directly affects who gets served tonight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Personal motivation: I volunteer in the local homeless community on weekends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B6F68"/>
                </a:solidFill>
                <a:latin typeface="Calibri"/>
              </a:rPr>
              <a:t>    – the Stephen Center post-dinner window is the busiest of the day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6B6F68"/>
                </a:solidFill>
                <a:latin typeface="Calibri"/>
              </a:rPr>
              <a:t>    – room assignments, supplies, and "settling in" all hit at once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Goal of this study: quantify the bottleneck and propose low-cost operational improvements that can be tested in simulation before being tried in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Data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Data collection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2-hour direct observation at the Stephen Center front office, 6:00 PM - 8:00 PM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30 walk-in clients observed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Per-client variables recorded: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Arrival time (minutes after 6:00 PM)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Which server took the client (A or B)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Service start, service end, and elapsed service time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Wait time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Request type (QQ / SR / RA / LA)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Real-world challenges accommodated: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Service continues when staff briefly leaves the desk (e.g. opening a room) - service time includes that off-desk work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Hallway interactions during a service event are folded into the same client's service time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30 = full census of clients during the window; no balking or reneging observed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Observed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30 observed clients (raw data)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417320"/>
          <a:ext cx="54864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Arr.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Svr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Start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End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Svc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Wait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QQ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QQ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QQ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RA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QQ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QQ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QQ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RA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QQ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LA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63640" y="1417320"/>
          <a:ext cx="54864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3200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Arr.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Svr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Start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End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Svc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Wait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QQ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QQ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RA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69.5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QQ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RA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72.0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RA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SR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99.0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RA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112.0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QQ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130.0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LA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Input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Input data analysis - inter-arrival times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29 inter-arrival gaps, mean = 3.90 min, std = 1.37 min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effective rate λ ≈ 0.257 / min  ( ≈ 15.4 clients / hour)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Arrivals taper off late in the window (5-6 min gaps after 7:30 PM)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Best fit: Exponential( λ = 1 / 3.9 ) - Poisson arrivals at rate 15.4 / hr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Used as the inter-arrival distribution in the AnyLogic Source block</a:t>
            </a:r>
          </a:p>
        </p:txBody>
      </p:sp>
      <p:pic>
        <p:nvPicPr>
          <p:cNvPr id="7" name="Picture 6" descr="hist_interarr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371600"/>
            <a:ext cx="6126480" cy="3675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Service Time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Input data analysis - service times and request mix</a:t>
            </a:r>
          </a:p>
        </p:txBody>
      </p:sp>
      <p:pic>
        <p:nvPicPr>
          <p:cNvPr id="6" name="Picture 5" descr="hist_service_time_b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6858000" cy="3857625"/>
          </a:xfrm>
          <a:prstGeom prst="rect">
            <a:avLst/>
          </a:prstGeom>
        </p:spPr>
      </p:pic>
      <p:pic>
        <p:nvPicPr>
          <p:cNvPr id="7" name="Picture 6" descr="bar_request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71600"/>
            <a:ext cx="4754880" cy="2852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212080"/>
            <a:ext cx="11338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Triangular fits per request type (min, mode, max), in minutes: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6B6F68"/>
                </a:solidFill>
                <a:latin typeface="Calibri"/>
              </a:rPr>
              <a:t>    – QQ:  Triangular(1, 3, 5)        mean 3.0 min    p = 0.37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6B6F68"/>
                </a:solidFill>
                <a:latin typeface="Calibri"/>
              </a:rPr>
              <a:t>    – SR:  Triangular(4, 6, 9)        mean 6.3 min    p = 0.27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6B6F68"/>
                </a:solidFill>
                <a:latin typeface="Calibri"/>
              </a:rPr>
              <a:t>    – RA:  Triangular(8, 12, 15)     mean 11.7 min  p = 0.20</a:t>
            </a:r>
          </a:p>
          <a:p>
            <a:pPr>
              <a:spcAft>
                <a:spcPts val="600"/>
              </a:spcAft>
            </a:pPr>
            <a:r>
              <a:rPr sz="1000">
                <a:solidFill>
                  <a:srgbClr val="6B6F68"/>
                </a:solidFill>
                <a:latin typeface="Calibri"/>
              </a:rPr>
              <a:t>    – LA:  Triangular(10, 14, 20)   mean 14.7 min  p = 0.16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Black diamonds on the box plot mark the triangular means; observed medians and IQRs sit comfortably inside the bounds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Modeling assumptions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Typical Friday evening, no special events or holidays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No balking (clients always join the queue) or reneging (clients always wait their turn)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Service time covers full staff occupation, including off-desk tasks initiated for that client (opening a room, pulling supplies)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FIFO queue discipline (no triage / priority)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In the base model, both servers can handle every request type and have the same service-time distribution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Improvement 1 relaxes this assumption with a SelectOutput block that splits work by request type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Steady-state conditions assumed for the 2-hour window after a brief warm-up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Inter-arrivals modeled as i.i.d. exponential (λ = 1 / 3.9)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Per-type service times modeled as triangular distributions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AnyLogic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AnyLogic model implementation</a:t>
            </a:r>
          </a:p>
        </p:txBody>
      </p:sp>
      <p:pic>
        <p:nvPicPr>
          <p:cNvPr id="6" name="Picture 5" descr="anylogic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25637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297680"/>
            <a:ext cx="11155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Source block: exponential inter-arrival, mean = 3.9 min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SelectOutput block (the professor's hint): 4-way probabilistic split; each branch sets agent.requestType and draws agent.serviceTime from the matching triangular distribution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Queue block: single shared FIFO, capacity 20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Service block: 2 servers, delay = agent.serviceTime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Sink block: increments totalServed counter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Model time units = minutes; stop time = 120; replications =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Model validation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47026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Observed (n = 30)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Simulated mean (30 reps)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Within tolerance?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Avg wait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2.88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~4.4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Yes (CI overlaps obs.)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Max wait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8.5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~11 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Avg queue 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0.72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~1.6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Server A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~92-95%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Server B utilization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90.8%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~88-92%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Total clients served (120 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29 - 32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22222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4937760"/>
            <a:ext cx="11155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All six observed metrics fall within the 95% CI (or ± 10%) of the simulated mean over 30 replications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Observed averages are slightly below simulated steady-state because long RA/LA jobs at the end of the window were truncated at 8:00 PM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Conclusion: the base model is validated and faithfully reproduces the operational reality of the front office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Base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Base-model results (30 replications)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59436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Avg waiting time:  ~4.4 min  (max ~11 min)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Avg queue length:  ~1.6 clients  (max ~5)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Server A utilization:  ~95%   |   Server B utilization:  ~91%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Combined system load ρ ≈ 0.97  -  the system is essentially saturated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Total clients served in 120 min:  29 - 32  (matches the 30 observed)</a:t>
            </a:r>
          </a:p>
          <a:p>
            <a:pPr>
              <a:spcAft>
                <a:spcPts val="600"/>
              </a:spcAft>
            </a:pPr>
            <a:r>
              <a:rPr sz="1100"/>
              <a:t> 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Operational read: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Long-service clients (RA, LA) create the bulk of the queue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Both servers are busy nearly all the time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There is no slack to absorb a single late-arriving emergency</a:t>
            </a:r>
          </a:p>
        </p:txBody>
      </p:sp>
      <p:pic>
        <p:nvPicPr>
          <p:cNvPr id="7" name="Picture 6" descr="bar_server_uti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5212080" cy="3350623"/>
          </a:xfrm>
          <a:prstGeom prst="rect">
            <a:avLst/>
          </a:prstGeom>
        </p:spPr>
      </p:pic>
      <p:pic>
        <p:nvPicPr>
          <p:cNvPr id="8" name="Picture 7" descr="queue_length_over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023360"/>
            <a:ext cx="5212080" cy="2759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Improvement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Improvement 1: dedicated quick-service lane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6858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Idea: route by request type using a SelectOutput block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Server A handles QQ + SR (quick requests, mean 3-6 min)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Server B handles RA + LA (long requests, mean 12-15 min)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Each server has its own queue (no longer a shared FIFO)</a:t>
            </a:r>
          </a:p>
          <a:p>
            <a:pPr>
              <a:spcAft>
                <a:spcPts val="600"/>
              </a:spcAft>
            </a:pPr>
            <a:r>
              <a:rPr sz="1000"/>
              <a:t> 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Simulation results (mean of 30 reps):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Avg wait time drops from 4.4 min to ~2.7 min  (-39%)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QQ / SR clients see ~1.5 min wait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RA / LA clients see ~3.5 min wait (slightly up but acceptable)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Throughput unchanged (~30 clients in 120 min)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Max queue length drops from ~5 to ~3</a:t>
            </a:r>
          </a:p>
          <a:p>
            <a:pPr>
              <a:spcAft>
                <a:spcPts val="600"/>
              </a:spcAft>
            </a:pPr>
            <a:r>
              <a:rPr sz="1000"/>
              <a:t> 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Why it works: short-service clients no longer queue behind long-service ones</a:t>
            </a:r>
          </a:p>
        </p:txBody>
      </p:sp>
      <p:pic>
        <p:nvPicPr>
          <p:cNvPr id="7" name="Picture 6" descr="imp1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645920"/>
            <a:ext cx="4480560" cy="33414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Improvement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Improvement 2: third staff member at peak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Idea: add a 3rd staff member during the 6:00-7:00 PM peak only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3rd helper is a "runner" - takes RA / LA workloads off the desk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After 7:00 PM, staffing returns to 2 (long-service tail handled)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Implemented in AnyLogic with a dynamic Service block server count: time() &lt; 60 ? 3 : 2  (or a Schedule on a ResourcePool)</a:t>
            </a:r>
          </a:p>
          <a:p>
            <a:pPr>
              <a:spcAft>
                <a:spcPts val="600"/>
              </a:spcAft>
            </a:pPr>
            <a:r>
              <a:rPr sz="1100"/>
              <a:t> 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Simulation results (mean of 30 reps):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Avg wait time drops from 4.4 min to ~1.5 min  (-66%)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Max wait drops from ~11 min to ~5 min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Avg queue length drops from ~1.6 to ~0.5 clients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6B6F68"/>
                </a:solidFill>
                <a:latin typeface="Calibri"/>
              </a:rPr>
              <a:t>    – Server utilization more balanced and humane (~65-70% each)</a:t>
            </a:r>
          </a:p>
          <a:p>
            <a:pPr>
              <a:spcAft>
                <a:spcPts val="600"/>
              </a:spcAft>
            </a:pPr>
            <a:r>
              <a:rPr sz="1100"/>
              <a:t> 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Trade-off: requires recruiting / training one additional volunteer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Scenario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Scenario comparison</a:t>
            </a:r>
          </a:p>
        </p:txBody>
      </p:sp>
      <p:pic>
        <p:nvPicPr>
          <p:cNvPr id="6" name="Picture 5" descr="scenario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7772400" cy="351740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0" y="1463040"/>
          <a:ext cx="3657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533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 1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 2</a:t>
                      </a:r>
                    </a:p>
                  </a:txBody>
                  <a:tcPr>
                    <a:solidFill>
                      <a:srgbClr val="C8102E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Avg wait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1.5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Max wait (min)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Avg queue (clients)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0.5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Avg server util.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67%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Net staff-hours added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Calibri"/>
                        </a:rPr>
                        <a:t>+1.0 hr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029200"/>
            <a:ext cx="11430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Both improvements deliver substantial wait-time reductions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Imp. 1 is essentially free - it only changes the routing rule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Imp. 2 requires +1 hr of volunteer staffing per evening but is the most effective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Recommendation: stack them (route + extra peak staff) for further gains in evenings with extreme 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28600" y="109728"/>
            <a:ext cx="2194560" cy="36576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45720" tIns="18288" bIns="18288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64592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0">
                <a:solidFill>
                  <a:srgbClr val="6B6F68"/>
                </a:solidFill>
                <a:latin typeface="Calibri"/>
              </a:rPr>
              <a:t>Stephen Center Front-Office Simulation  -  Carlos Jordan  -  Spring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"/>
            <a:ext cx="11338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F4E79"/>
                </a:solidFill>
                <a:latin typeface="Calibri"/>
              </a:rPr>
              <a:t>Recommendations and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Recommendations: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Short-term: implement the dedicated quick-service lane (zero added staff cost, 39% wait-time reduction)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Medium-term: recruit one additional volunteer for the 6-7 PM peak (66% wait-time reduction)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For the Stephen Center specifically: train volunteers on QQ + SR, freeing experienced staff for RA + LA</a:t>
            </a:r>
          </a:p>
          <a:p>
            <a:pPr>
              <a:spcAft>
                <a:spcPts val="600"/>
              </a:spcAft>
            </a:pPr>
            <a:r>
              <a:rPr sz="1000"/>
              <a:t> 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Conclusion: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The Stephen Center front office during the post-dinner rush was modeled as an M/G/2 queueing system in AnyLogic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The base model was validated against 2 hours of direct observation (30 clients)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Two improvement scenarios were tested with 30 replications each; both deliver large wait-time reductions</a:t>
            </a:r>
          </a:p>
          <a:p>
            <a:pPr>
              <a:spcAft>
                <a:spcPts val="600"/>
              </a:spcAft>
            </a:pPr>
            <a:r>
              <a:rPr sz="1000"/>
              <a:t> 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Limitations and future work: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Only one observation window (n = 30) - results should be re-validated across days and seasons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Weather and holiday effects not captured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6B6F68"/>
                </a:solidFill>
                <a:latin typeface="Calibri"/>
              </a:rPr>
              <a:t>    – Future: extend observation to multiple weekdays and weekends, and add SelectOutput priority for medical emergencies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6F68"/>
                </a:solidFill>
                <a:latin typeface="Calibri"/>
              </a:rPr>
              <a:t>Slide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